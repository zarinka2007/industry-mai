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5"/>
  </p:notesMasterIdLst>
  <p:sldIdLst>
    <p:sldId id="264" r:id="rId2"/>
    <p:sldId id="265" r:id="rId3"/>
    <p:sldId id="267" r:id="rId4"/>
    <p:sldId id="268" r:id="rId5"/>
    <p:sldId id="270" r:id="rId6"/>
    <p:sldId id="271" r:id="rId7"/>
    <p:sldId id="274" r:id="rId8"/>
    <p:sldId id="272" r:id="rId9"/>
    <p:sldId id="273" r:id="rId10"/>
    <p:sldId id="275" r:id="rId11"/>
    <p:sldId id="276" r:id="rId12"/>
    <p:sldId id="258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412D5"/>
    <a:srgbClr val="FFFFFF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69" autoAdjust="0"/>
    <p:restoredTop sz="94660"/>
  </p:normalViewPr>
  <p:slideViewPr>
    <p:cSldViewPr snapToGrid="0">
      <p:cViewPr>
        <p:scale>
          <a:sx n="33" d="100"/>
          <a:sy n="33" d="100"/>
        </p:scale>
        <p:origin x="34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5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B6D0F-8444-6648-95BB-C991FFD6E81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0DFF4-30A0-6641-A1D6-4AD7A6878D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99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/>
          <p:cNvSpPr/>
          <p:nvPr userDrawn="1"/>
        </p:nvSpPr>
        <p:spPr>
          <a:xfrm rot="10800000">
            <a:off x="764341" y="2162220"/>
            <a:ext cx="9773029" cy="329873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8231"/>
              <a:gd name="connsiteX1" fmla="*/ 0 w 909835"/>
              <a:gd name="connsiteY1" fmla="*/ 594339 h 688231"/>
              <a:gd name="connsiteX2" fmla="*/ 61184 w 909835"/>
              <a:gd name="connsiteY2" fmla="*/ 685911 h 688231"/>
              <a:gd name="connsiteX3" fmla="*/ 847726 w 909835"/>
              <a:gd name="connsiteY3" fmla="*/ 684827 h 688231"/>
              <a:gd name="connsiteX4" fmla="*/ 907257 w 909835"/>
              <a:gd name="connsiteY4" fmla="*/ 577671 h 688231"/>
              <a:gd name="connsiteX5" fmla="*/ 909835 w 909835"/>
              <a:gd name="connsiteY5" fmla="*/ 65702 h 688231"/>
              <a:gd name="connsiteX6" fmla="*/ 828675 w 909835"/>
              <a:gd name="connsiteY6" fmla="*/ 13314 h 688231"/>
              <a:gd name="connsiteX7" fmla="*/ 45244 w 909835"/>
              <a:gd name="connsiteY7" fmla="*/ 275252 h 688231"/>
              <a:gd name="connsiteX8" fmla="*/ 0 w 909835"/>
              <a:gd name="connsiteY8" fmla="*/ 384791 h 68823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45244 w 909835"/>
              <a:gd name="connsiteY7" fmla="*/ 275252 h 685911"/>
              <a:gd name="connsiteX8" fmla="*/ 0 w 909835"/>
              <a:gd name="connsiteY8" fmla="*/ 384791 h 685911"/>
              <a:gd name="connsiteX0" fmla="*/ 1990 w 911825"/>
              <a:gd name="connsiteY0" fmla="*/ 384791 h 685911"/>
              <a:gd name="connsiteX1" fmla="*/ 1990 w 911825"/>
              <a:gd name="connsiteY1" fmla="*/ 594339 h 685911"/>
              <a:gd name="connsiteX2" fmla="*/ 63174 w 911825"/>
              <a:gd name="connsiteY2" fmla="*/ 685911 h 685911"/>
              <a:gd name="connsiteX3" fmla="*/ 849716 w 911825"/>
              <a:gd name="connsiteY3" fmla="*/ 684827 h 685911"/>
              <a:gd name="connsiteX4" fmla="*/ 909247 w 911825"/>
              <a:gd name="connsiteY4" fmla="*/ 577671 h 685911"/>
              <a:gd name="connsiteX5" fmla="*/ 911825 w 911825"/>
              <a:gd name="connsiteY5" fmla="*/ 65702 h 685911"/>
              <a:gd name="connsiteX6" fmla="*/ 830665 w 911825"/>
              <a:gd name="connsiteY6" fmla="*/ 13314 h 685911"/>
              <a:gd name="connsiteX7" fmla="*/ 35396 w 911825"/>
              <a:gd name="connsiteY7" fmla="*/ 282118 h 685911"/>
              <a:gd name="connsiteX8" fmla="*/ 1990 w 911825"/>
              <a:gd name="connsiteY8" fmla="*/ 384791 h 68591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33406 w 909835"/>
              <a:gd name="connsiteY7" fmla="*/ 282118 h 685911"/>
              <a:gd name="connsiteX8" fmla="*/ 0 w 909835"/>
              <a:gd name="connsiteY8" fmla="*/ 384791 h 685911"/>
              <a:gd name="connsiteX0" fmla="*/ 0 w 909835"/>
              <a:gd name="connsiteY0" fmla="*/ 388112 h 689232"/>
              <a:gd name="connsiteX1" fmla="*/ 0 w 909835"/>
              <a:gd name="connsiteY1" fmla="*/ 597660 h 689232"/>
              <a:gd name="connsiteX2" fmla="*/ 61184 w 909835"/>
              <a:gd name="connsiteY2" fmla="*/ 689232 h 689232"/>
              <a:gd name="connsiteX3" fmla="*/ 847726 w 909835"/>
              <a:gd name="connsiteY3" fmla="*/ 688148 h 689232"/>
              <a:gd name="connsiteX4" fmla="*/ 907257 w 909835"/>
              <a:gd name="connsiteY4" fmla="*/ 580992 h 689232"/>
              <a:gd name="connsiteX5" fmla="*/ 909835 w 909835"/>
              <a:gd name="connsiteY5" fmla="*/ 69023 h 689232"/>
              <a:gd name="connsiteX6" fmla="*/ 851612 w 909835"/>
              <a:gd name="connsiteY6" fmla="*/ 11485 h 689232"/>
              <a:gd name="connsiteX7" fmla="*/ 33406 w 909835"/>
              <a:gd name="connsiteY7" fmla="*/ 285439 h 689232"/>
              <a:gd name="connsiteX8" fmla="*/ 0 w 909835"/>
              <a:gd name="connsiteY8" fmla="*/ 388112 h 68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89232">
                <a:moveTo>
                  <a:pt x="0" y="388112"/>
                </a:moveTo>
                <a:lnTo>
                  <a:pt x="0" y="597660"/>
                </a:lnTo>
                <a:cubicBezTo>
                  <a:pt x="314" y="708613"/>
                  <a:pt x="1707" y="683031"/>
                  <a:pt x="61184" y="689232"/>
                </a:cubicBezTo>
                <a:lnTo>
                  <a:pt x="847726" y="688148"/>
                </a:lnTo>
                <a:cubicBezTo>
                  <a:pt x="914024" y="696683"/>
                  <a:pt x="907077" y="646519"/>
                  <a:pt x="907257" y="580992"/>
                </a:cubicBezTo>
                <a:cubicBezTo>
                  <a:pt x="908116" y="410336"/>
                  <a:pt x="908976" y="239679"/>
                  <a:pt x="909835" y="69023"/>
                </a:cubicBezTo>
                <a:cubicBezTo>
                  <a:pt x="909889" y="-19382"/>
                  <a:pt x="896982" y="-2998"/>
                  <a:pt x="851612" y="11485"/>
                </a:cubicBezTo>
                <a:lnTo>
                  <a:pt x="33406" y="285439"/>
                </a:lnTo>
                <a:cubicBezTo>
                  <a:pt x="-5008" y="299234"/>
                  <a:pt x="701" y="316090"/>
                  <a:pt x="0" y="388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 userDrawn="1"/>
        </p:nvSpPr>
        <p:spPr>
          <a:xfrm>
            <a:off x="4469130" y="1369365"/>
            <a:ext cx="6781800" cy="2192335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326">
                <a:moveTo>
                  <a:pt x="0" y="384791"/>
                </a:moveTo>
                <a:lnTo>
                  <a:pt x="0" y="594339"/>
                </a:lnTo>
                <a:cubicBezTo>
                  <a:pt x="314" y="705292"/>
                  <a:pt x="53182" y="691972"/>
                  <a:pt x="111919" y="689590"/>
                </a:cubicBezTo>
                <a:lnTo>
                  <a:pt x="847726" y="684827"/>
                </a:lnTo>
                <a:cubicBezTo>
                  <a:pt x="914024" y="693362"/>
                  <a:pt x="907077" y="643198"/>
                  <a:pt x="907257" y="577671"/>
                </a:cubicBezTo>
                <a:cubicBezTo>
                  <a:pt x="908116" y="407015"/>
                  <a:pt x="908976" y="236358"/>
                  <a:pt x="909835" y="65702"/>
                </a:cubicBezTo>
                <a:cubicBezTo>
                  <a:pt x="909889" y="-22703"/>
                  <a:pt x="874045" y="-1169"/>
                  <a:pt x="828675" y="13314"/>
                </a:cubicBezTo>
                <a:lnTo>
                  <a:pt x="45244" y="275252"/>
                </a:lnTo>
                <a:cubicBezTo>
                  <a:pt x="-3528" y="294197"/>
                  <a:pt x="701" y="312769"/>
                  <a:pt x="0" y="38479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2"/>
          <p:cNvSpPr>
            <a:spLocks noGrp="1"/>
          </p:cNvSpPr>
          <p:nvPr>
            <p:ph type="title" hasCustomPrompt="1"/>
          </p:nvPr>
        </p:nvSpPr>
        <p:spPr>
          <a:xfrm>
            <a:off x="1206500" y="2574930"/>
            <a:ext cx="72771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ba-RU" dirty="0"/>
              <a:t>Заголовок</a:t>
            </a:r>
            <a:endParaRPr lang="ru-RU" dirty="0"/>
          </a:p>
        </p:txBody>
      </p:sp>
      <p:sp>
        <p:nvSpPr>
          <p:cNvPr id="18" name="Полилиния 17"/>
          <p:cNvSpPr/>
          <p:nvPr userDrawn="1"/>
        </p:nvSpPr>
        <p:spPr>
          <a:xfrm rot="10800000">
            <a:off x="1575971" y="4090869"/>
            <a:ext cx="7747000" cy="189925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60014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9590"/>
              <a:gd name="connsiteX1" fmla="*/ 0 w 909835"/>
              <a:gd name="connsiteY1" fmla="*/ 594339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4791 h 690195"/>
              <a:gd name="connsiteX1" fmla="*/ 0 w 909835"/>
              <a:gd name="connsiteY1" fmla="*/ 594339 h 690195"/>
              <a:gd name="connsiteX2" fmla="*/ 60014 w 909835"/>
              <a:gd name="connsiteY2" fmla="*/ 689590 h 690195"/>
              <a:gd name="connsiteX3" fmla="*/ 847726 w 909835"/>
              <a:gd name="connsiteY3" fmla="*/ 684827 h 690195"/>
              <a:gd name="connsiteX4" fmla="*/ 907257 w 909835"/>
              <a:gd name="connsiteY4" fmla="*/ 577671 h 690195"/>
              <a:gd name="connsiteX5" fmla="*/ 909835 w 909835"/>
              <a:gd name="connsiteY5" fmla="*/ 65702 h 690195"/>
              <a:gd name="connsiteX6" fmla="*/ 828675 w 909835"/>
              <a:gd name="connsiteY6" fmla="*/ 13314 h 690195"/>
              <a:gd name="connsiteX7" fmla="*/ 45244 w 909835"/>
              <a:gd name="connsiteY7" fmla="*/ 275252 h 690195"/>
              <a:gd name="connsiteX8" fmla="*/ 0 w 909835"/>
              <a:gd name="connsiteY8" fmla="*/ 384791 h 690195"/>
              <a:gd name="connsiteX0" fmla="*/ 0 w 909835"/>
              <a:gd name="connsiteY0" fmla="*/ 384791 h 689590"/>
              <a:gd name="connsiteX1" fmla="*/ 0 w 909835"/>
              <a:gd name="connsiteY1" fmla="*/ 580458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969">
                <a:moveTo>
                  <a:pt x="0" y="387170"/>
                </a:moveTo>
                <a:lnTo>
                  <a:pt x="0" y="582837"/>
                </a:lnTo>
                <a:cubicBezTo>
                  <a:pt x="314" y="693790"/>
                  <a:pt x="2172" y="691574"/>
                  <a:pt x="60014" y="691969"/>
                </a:cubicBezTo>
                <a:lnTo>
                  <a:pt x="847726" y="687206"/>
                </a:lnTo>
                <a:cubicBezTo>
                  <a:pt x="901495" y="687412"/>
                  <a:pt x="901708" y="648353"/>
                  <a:pt x="907257" y="580050"/>
                </a:cubicBezTo>
                <a:cubicBezTo>
                  <a:pt x="908116" y="409394"/>
                  <a:pt x="908976" y="238737"/>
                  <a:pt x="909835" y="68081"/>
                </a:cubicBezTo>
                <a:cubicBezTo>
                  <a:pt x="906309" y="-20324"/>
                  <a:pt x="891944" y="-1567"/>
                  <a:pt x="845679" y="10140"/>
                </a:cubicBezTo>
                <a:lnTo>
                  <a:pt x="45244" y="277631"/>
                </a:lnTo>
                <a:cubicBezTo>
                  <a:pt x="-3528" y="296576"/>
                  <a:pt x="701" y="315148"/>
                  <a:pt x="0" y="38717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168525" y="4609503"/>
            <a:ext cx="6315075" cy="617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a-RU" dirty="0"/>
              <a:t>П</a:t>
            </a:r>
            <a:r>
              <a:rPr lang="ru-RU" dirty="0" err="1"/>
              <a:t>одзаголовок</a:t>
            </a:r>
            <a:endParaRPr lang="ru-RU" dirty="0"/>
          </a:p>
        </p:txBody>
      </p:sp>
      <p:sp>
        <p:nvSpPr>
          <p:cNvPr id="21" name="Подзаголовок 2"/>
          <p:cNvSpPr txBox="1">
            <a:spLocks/>
          </p:cNvSpPr>
          <p:nvPr userDrawn="1"/>
        </p:nvSpPr>
        <p:spPr>
          <a:xfrm>
            <a:off x="10764611" y="6198688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22" name="Прямая соединительная линия 21"/>
          <p:cNvCxnSpPr/>
          <p:nvPr userDrawn="1"/>
        </p:nvCxnSpPr>
        <p:spPr>
          <a:xfrm flipH="1">
            <a:off x="10764611" y="6580776"/>
            <a:ext cx="142738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7E17F2-3CC4-B00E-27FE-B100C036B9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9FE15A-ABDE-7FC7-E24B-5A0EC53B9D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/>
        </p:blipFill>
        <p:spPr>
          <a:xfrm>
            <a:off x="10034963" y="421552"/>
            <a:ext cx="1397100" cy="412477"/>
          </a:xfrm>
          <a:prstGeom prst="rect">
            <a:avLst/>
          </a:prstGeom>
        </p:spPr>
      </p:pic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ACD9C915-F3D9-8FA4-DF80-2B37D2D77359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0478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8BF2FF-A665-4099-BFE7-C09CB3E9A5B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7249" y="504326"/>
            <a:ext cx="2232305" cy="30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73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2119745"/>
            <a:ext cx="11106152" cy="3857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90268" y="1269546"/>
            <a:ext cx="11106432" cy="586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13A6F7-2742-3083-E2DC-794A5C5D8D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0CCBB3D-6731-49C7-EAE6-824574790335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1BB4B61-E532-4DA1-962B-F56555F047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/>
        </p:blipFill>
        <p:spPr>
          <a:xfrm>
            <a:off x="10034963" y="421552"/>
            <a:ext cx="1397100" cy="41247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9BF508-11E7-485C-94FE-DEAD9B3194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7249" y="504326"/>
            <a:ext cx="2232305" cy="30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8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2119745"/>
            <a:ext cx="11106152" cy="3857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90268" y="1269546"/>
            <a:ext cx="11106432" cy="586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13A6F7-2742-3083-E2DC-794A5C5D8D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4FCD3AC-B02F-2132-8A13-C81FB32562A1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9738000-C44C-4B68-B01E-4AC7BEBC47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/>
        </p:blipFill>
        <p:spPr>
          <a:xfrm>
            <a:off x="10034963" y="421552"/>
            <a:ext cx="1397100" cy="41247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D2ECFC-F847-4962-877B-ADA1CB5E3A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7249" y="504326"/>
            <a:ext cx="2232305" cy="30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07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2997F20-B189-B49C-E508-4DC3AECE1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0508" y="0"/>
            <a:ext cx="12192000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843E47-0782-D5B0-9C3B-53674941830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23" y="5861623"/>
            <a:ext cx="3097098" cy="65063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5C9F83-9983-4164-A550-682CC692AF5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63081" y="6074242"/>
            <a:ext cx="2219417" cy="2935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FE055B-08C7-4D8F-B7BE-309AD44E84C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5975" y="5974616"/>
            <a:ext cx="1720025" cy="49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21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Объект 20"/>
          <p:cNvSpPr>
            <a:spLocks noGrp="1"/>
          </p:cNvSpPr>
          <p:nvPr>
            <p:ph sz="quarter" idx="10"/>
          </p:nvPr>
        </p:nvSpPr>
        <p:spPr>
          <a:xfrm>
            <a:off x="0" y="1076325"/>
            <a:ext cx="12192000" cy="5791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771315"/>
            <a:ext cx="11036301" cy="934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дзаголовок 2"/>
          <p:cNvSpPr txBox="1">
            <a:spLocks/>
          </p:cNvSpPr>
          <p:nvPr userDrawn="1"/>
        </p:nvSpPr>
        <p:spPr>
          <a:xfrm>
            <a:off x="590550" y="6246586"/>
            <a:ext cx="11601452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a-RU" sz="1800" dirty="0">
                <a:solidFill>
                  <a:schemeClr val="bg1">
                    <a:lumMod val="65000"/>
                  </a:schemeClr>
                </a:solidFill>
              </a:rPr>
              <a:t>Уфимский</a:t>
            </a:r>
            <a:r>
              <a:rPr lang="ba-RU" sz="1800" baseline="0" dirty="0">
                <a:solidFill>
                  <a:schemeClr val="bg1">
                    <a:lumMod val="65000"/>
                  </a:schemeClr>
                </a:solidFill>
              </a:rPr>
              <a:t> университет науки и технологий</a:t>
            </a:r>
            <a:endParaRPr lang="ru-RU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90549" y="267494"/>
            <a:ext cx="3610744" cy="42155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" y="771315"/>
            <a:ext cx="4351019" cy="93446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036301" y="155015"/>
            <a:ext cx="660399" cy="610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847" y="267494"/>
            <a:ext cx="435439" cy="4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6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771315"/>
            <a:ext cx="11036301" cy="934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дзаголовок 2"/>
          <p:cNvSpPr txBox="1">
            <a:spLocks/>
          </p:cNvSpPr>
          <p:nvPr userDrawn="1"/>
        </p:nvSpPr>
        <p:spPr>
          <a:xfrm>
            <a:off x="590548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uust.ru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90549" y="267494"/>
            <a:ext cx="3610744" cy="42155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1066800"/>
            <a:ext cx="11106152" cy="49107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" y="771315"/>
            <a:ext cx="4351019" cy="93446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036301" y="155015"/>
            <a:ext cx="660399" cy="610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847" y="267494"/>
            <a:ext cx="435439" cy="4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2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01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0" r:id="rId2"/>
    <p:sldLayoutId id="2147483748" r:id="rId3"/>
    <p:sldLayoutId id="2147483741" r:id="rId4"/>
    <p:sldLayoutId id="2147483742" r:id="rId5"/>
    <p:sldLayoutId id="214748374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industry-mai-y9wbzqscjnvrbaqp9gbvbh.streamlit.app/" TargetMode="External"/><Relationship Id="rId4" Type="http://schemas.openxmlformats.org/officeDocument/2006/relationships/hyperlink" Target="https://github.com/zarinka2007/industry-mai.git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D0BF63-A39C-4B3B-854F-952518A23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2574930"/>
            <a:ext cx="83947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Segoe UI Black" panose="020B0A02040204020203" pitchFamily="34" charset="0"/>
                <a:ea typeface="Segoe UI Black" panose="020B0A02040204020203" pitchFamily="34" charset="0"/>
              </a:rPr>
              <a:t>Наследие индустрий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815144-7AC5-4A8A-B6F3-1D610D43B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9059" y="4474037"/>
            <a:ext cx="5570008" cy="111396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Работу выполнили студентки группы ТОП-101Б Сафина Зарина, Салимова Алина</a:t>
            </a:r>
          </a:p>
        </p:txBody>
      </p:sp>
    </p:spTree>
    <p:extLst>
      <p:ext uri="{BB962C8B-B14F-4D97-AF65-F5344CB8AC3E}">
        <p14:creationId xmlns:p14="http://schemas.microsoft.com/office/powerpoint/2010/main" val="3021121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32A1F04-7B4A-4452-98F0-2A4A78473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33" y="2849707"/>
            <a:ext cx="2950533" cy="22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958BCDE3-5ECA-48CE-BFD9-BCC392EC7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2784" y="1203538"/>
            <a:ext cx="11106432" cy="586557"/>
          </a:xfrm>
        </p:spPr>
        <p:txBody>
          <a:bodyPr>
            <a:normAutofit/>
          </a:bodyPr>
          <a:lstStyle/>
          <a:p>
            <a:r>
              <a:rPr lang="ru-RU" sz="3600" b="0" dirty="0">
                <a:latin typeface="Segoe UI Black" panose="020B0A02040204020203" pitchFamily="34" charset="0"/>
                <a:ea typeface="Segoe UI Black" panose="020B0A02040204020203" pitchFamily="34" charset="0"/>
              </a:rPr>
              <a:t>Проблема: 3 барьера для инвестора</a:t>
            </a:r>
            <a:endParaRPr lang="ru-RU" sz="3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D0A7194-10CD-47A6-955E-B14C22E9EDE0}"/>
              </a:ext>
            </a:extLst>
          </p:cNvPr>
          <p:cNvSpPr/>
          <p:nvPr/>
        </p:nvSpPr>
        <p:spPr>
          <a:xfrm>
            <a:off x="152400" y="2099011"/>
            <a:ext cx="4673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Разрозненность данных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BE53AB-18D9-4568-95CB-28A686FA9CE8}"/>
              </a:ext>
            </a:extLst>
          </p:cNvPr>
          <p:cNvSpPr/>
          <p:nvPr/>
        </p:nvSpPr>
        <p:spPr>
          <a:xfrm>
            <a:off x="1213830" y="5371523"/>
            <a:ext cx="97643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Отсутствие привязки к локальному контексту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704A029-E310-4F3E-9A19-9DA4967A637C}"/>
              </a:ext>
            </a:extLst>
          </p:cNvPr>
          <p:cNvSpPr/>
          <p:nvPr/>
        </p:nvSpPr>
        <p:spPr>
          <a:xfrm>
            <a:off x="5044466" y="2024914"/>
            <a:ext cx="71475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Сложность комплексной оценки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EA8C69A8-45EF-4F74-ACA8-641FF15FD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103" y="2637620"/>
            <a:ext cx="4353934" cy="227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117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58BCDE3-5ECA-48CE-BFD9-BCC392EC7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548" y="1086358"/>
            <a:ext cx="11313865" cy="1182709"/>
          </a:xfrm>
        </p:spPr>
        <p:txBody>
          <a:bodyPr>
            <a:normAutofit lnSpcReduction="10000"/>
          </a:bodyPr>
          <a:lstStyle/>
          <a:p>
            <a:r>
              <a:rPr lang="ru-RU" sz="4000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Уникальный сервис, который говорит на языке региона</a:t>
            </a:r>
            <a:endParaRPr lang="ru-RU" sz="4800" dirty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1CE1E9-9DD9-4DE2-B6D6-23BC1AA8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48" y="2269067"/>
            <a:ext cx="9929281" cy="439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35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58BCDE3-5ECA-48CE-BFD9-BCC392EC7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733" y="3049527"/>
            <a:ext cx="11548534" cy="75894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Функционал: от формы до </a:t>
            </a:r>
            <a:r>
              <a:rPr lang="en-GB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3D-</a:t>
            </a:r>
            <a:r>
              <a:rPr lang="ru-RU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модели участка</a:t>
            </a:r>
          </a:p>
        </p:txBody>
      </p:sp>
    </p:spTree>
    <p:extLst>
      <p:ext uri="{BB962C8B-B14F-4D97-AF65-F5344CB8AC3E}">
        <p14:creationId xmlns:p14="http://schemas.microsoft.com/office/powerpoint/2010/main" val="98517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58BCDE3-5ECA-48CE-BFD9-BCC392EC7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2784" y="1066361"/>
            <a:ext cx="11106432" cy="586557"/>
          </a:xfrm>
        </p:spPr>
        <p:txBody>
          <a:bodyPr>
            <a:normAutofit/>
          </a:bodyPr>
          <a:lstStyle/>
          <a:p>
            <a:r>
              <a:rPr lang="ru-RU" sz="3200" dirty="0"/>
              <a:t>Страница 1: Форма ввода параметров (главная)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97B563-7684-4944-81C0-1DCEF8726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65" y="1652918"/>
            <a:ext cx="9517297" cy="520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58BCDE3-5ECA-48CE-BFD9-BCC392EC7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2784" y="1126111"/>
            <a:ext cx="11106432" cy="586557"/>
          </a:xfrm>
        </p:spPr>
        <p:txBody>
          <a:bodyPr>
            <a:normAutofit/>
          </a:bodyPr>
          <a:lstStyle/>
          <a:p>
            <a:r>
              <a:rPr lang="ru-RU" sz="3200" dirty="0"/>
              <a:t>Страница 2: ТОП-3 региона на карте (результаты поиска)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415329-6E84-42C3-9986-8E4FDD0C1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4" y="1712668"/>
            <a:ext cx="9406184" cy="495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8D1033-4060-4912-AC46-A09B2D488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9" y="1275020"/>
            <a:ext cx="5853446" cy="392113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BDE9D09-9621-485F-98B0-CAA9102FC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15" y="1498649"/>
            <a:ext cx="6291285" cy="386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23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58BCDE3-5ECA-48CE-BFD9-BCC392EC7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2784" y="1009468"/>
            <a:ext cx="11106432" cy="586557"/>
          </a:xfrm>
        </p:spPr>
        <p:txBody>
          <a:bodyPr>
            <a:normAutofit/>
          </a:bodyPr>
          <a:lstStyle/>
          <a:p>
            <a:r>
              <a:rPr lang="ru-RU" sz="3200" dirty="0"/>
              <a:t>Страница 3: Детальный пакет по выбранному участку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F9EBBF-4A8A-43DC-8623-96B87E682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46" y="1443272"/>
            <a:ext cx="8845062" cy="310285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267A5F-2B23-4652-8F55-676CBA717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236" y="2901461"/>
            <a:ext cx="6332918" cy="372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25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58BCDE3-5ECA-48CE-BFD9-BCC392EC7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Концепт-</a:t>
            </a:r>
            <a:r>
              <a:rPr lang="ru-RU" sz="3600" dirty="0" err="1"/>
              <a:t>борды</a:t>
            </a:r>
            <a:endParaRPr lang="ru-RU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17D7AD-C23C-4EBF-AADC-F4B2D5F6B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6042"/>
            <a:ext cx="4018695" cy="45670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4DF6E3-B971-4933-A43B-D596EDBEE8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11"/>
          <a:stretch/>
        </p:blipFill>
        <p:spPr>
          <a:xfrm>
            <a:off x="3874378" y="2399301"/>
            <a:ext cx="4298929" cy="426055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6A69149-4098-4001-9740-83D1856EA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530" y="2475932"/>
            <a:ext cx="4093470" cy="426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5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58BCDE3-5ECA-48CE-BFD9-BCC392EC7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Интерактивная 3</a:t>
            </a:r>
            <a:r>
              <a:rPr lang="en-GB" sz="3600" dirty="0"/>
              <a:t>D-</a:t>
            </a:r>
            <a:r>
              <a:rPr lang="ru-RU" sz="3600" dirty="0"/>
              <a:t>модель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727A2B-EDA3-4EF2-86B2-8F8E4B64A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518" y="1856103"/>
            <a:ext cx="7628964" cy="427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45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58BCDE3-5ECA-48CE-BFD9-BCC392EC7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Презентация для администрации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B43B80-606E-4890-A550-C726C1EDE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398" y="1828801"/>
            <a:ext cx="8541204" cy="436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5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6B0FEF-2F41-4088-90EA-B2B6A9BC1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40" y="1039715"/>
            <a:ext cx="3801005" cy="3762900"/>
          </a:xfrm>
          <a:prstGeom prst="rect">
            <a:avLst/>
          </a:prstGeom>
        </p:spPr>
      </p:pic>
      <p:sp>
        <p:nvSpPr>
          <p:cNvPr id="22" name="Текст 2">
            <a:extLst>
              <a:ext uri="{FF2B5EF4-FFF2-40B4-BE49-F238E27FC236}">
                <a16:creationId xmlns:a16="http://schemas.microsoft.com/office/drawing/2014/main" id="{32CF8AE8-A0C5-4907-81C9-B7D23B37613F}"/>
              </a:ext>
            </a:extLst>
          </p:cNvPr>
          <p:cNvSpPr txBox="1">
            <a:spLocks/>
          </p:cNvSpPr>
          <p:nvPr/>
        </p:nvSpPr>
        <p:spPr>
          <a:xfrm>
            <a:off x="561342" y="251771"/>
            <a:ext cx="4896131" cy="85019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QR</a:t>
            </a:r>
            <a:r>
              <a:rPr lang="en-GB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-</a:t>
            </a:r>
            <a:r>
              <a:rPr lang="ru-RU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код сайта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BB36602-5C42-441A-9940-7DFBF8C09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398" y="1039715"/>
            <a:ext cx="3735164" cy="3762900"/>
          </a:xfrm>
          <a:prstGeom prst="rect">
            <a:avLst/>
          </a:prstGeom>
        </p:spPr>
      </p:pic>
      <p:sp>
        <p:nvSpPr>
          <p:cNvPr id="5" name="Текст 2">
            <a:extLst>
              <a:ext uri="{FF2B5EF4-FFF2-40B4-BE49-F238E27FC236}">
                <a16:creationId xmlns:a16="http://schemas.microsoft.com/office/drawing/2014/main" id="{DE853183-7735-4183-9746-614A0D40FDE8}"/>
              </a:ext>
            </a:extLst>
          </p:cNvPr>
          <p:cNvSpPr txBox="1">
            <a:spLocks/>
          </p:cNvSpPr>
          <p:nvPr/>
        </p:nvSpPr>
        <p:spPr>
          <a:xfrm>
            <a:off x="7080915" y="483267"/>
            <a:ext cx="4896131" cy="61870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QR</a:t>
            </a:r>
            <a:r>
              <a:rPr lang="en-GB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-</a:t>
            </a:r>
            <a:r>
              <a:rPr lang="ru-RU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код на </a:t>
            </a:r>
            <a:r>
              <a:rPr lang="en-GB" sz="4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GitHab</a:t>
            </a:r>
            <a:endParaRPr lang="ru-RU" sz="4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060C174-1BC8-4A7E-A04F-3B632E0B6DE4}"/>
              </a:ext>
            </a:extLst>
          </p:cNvPr>
          <p:cNvSpPr/>
          <p:nvPr/>
        </p:nvSpPr>
        <p:spPr>
          <a:xfrm>
            <a:off x="6752492" y="4931219"/>
            <a:ext cx="54395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https://github.com/zarinka2007/industry-mai.git</a:t>
            </a:r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B44179F-351F-496D-B85D-96933D9AAF2B}"/>
              </a:ext>
            </a:extLst>
          </p:cNvPr>
          <p:cNvSpPr/>
          <p:nvPr/>
        </p:nvSpPr>
        <p:spPr>
          <a:xfrm>
            <a:off x="759954" y="4862658"/>
            <a:ext cx="44989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https://industry-mai-y9wbzqscjnvrbaqp9gbvbh.streamlit.app/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584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2">
            <a:extLst>
              <a:ext uri="{FF2B5EF4-FFF2-40B4-BE49-F238E27FC236}">
                <a16:creationId xmlns:a16="http://schemas.microsoft.com/office/drawing/2014/main" id="{C1D2FB44-B7FE-4BCA-B30E-C824BCF28AD4}"/>
              </a:ext>
            </a:extLst>
          </p:cNvPr>
          <p:cNvSpPr txBox="1">
            <a:spLocks/>
          </p:cNvSpPr>
          <p:nvPr/>
        </p:nvSpPr>
        <p:spPr>
          <a:xfrm>
            <a:off x="2070736" y="2987850"/>
            <a:ext cx="8050527" cy="8823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5400" dirty="0">
                <a:latin typeface="Segoe UI Black" panose="020B0A02040204020203" pitchFamily="34" charset="0"/>
                <a:ea typeface="Segoe UI Black" panose="020B0A02040204020203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341816748"/>
      </p:ext>
    </p:extLst>
  </p:cSld>
  <p:clrMapOvr>
    <a:masterClrMapping/>
  </p:clrMapOvr>
</p:sld>
</file>

<file path=ppt/theme/theme1.xml><?xml version="1.0" encoding="utf-8"?>
<a:theme xmlns:a="http://schemas.openxmlformats.org/drawingml/2006/main" name="УУНиТ 1">
  <a:themeElements>
    <a:clrScheme name="УУНиТ">
      <a:dk1>
        <a:srgbClr val="2A1468"/>
      </a:dk1>
      <a:lt1>
        <a:srgbClr val="FFFFFF"/>
      </a:lt1>
      <a:dk2>
        <a:srgbClr val="CBB8FF"/>
      </a:dk2>
      <a:lt2>
        <a:srgbClr val="FFFFFF"/>
      </a:lt2>
      <a:accent1>
        <a:srgbClr val="4D19CC"/>
      </a:accent1>
      <a:accent2>
        <a:srgbClr val="C1F26B"/>
      </a:accent2>
      <a:accent3>
        <a:srgbClr val="FFA039"/>
      </a:accent3>
      <a:accent4>
        <a:srgbClr val="EA591F"/>
      </a:accent4>
      <a:accent5>
        <a:srgbClr val="F9D84B"/>
      </a:accent5>
      <a:accent6>
        <a:srgbClr val="00BC7D"/>
      </a:accent6>
      <a:hlink>
        <a:srgbClr val="4D19CC"/>
      </a:hlink>
      <a:folHlink>
        <a:srgbClr val="000000"/>
      </a:folHlink>
    </a:clrScheme>
    <a:fontScheme name="Golos">
      <a:majorFont>
        <a:latin typeface="Golos Text DemiBold"/>
        <a:ea typeface=""/>
        <a:cs typeface=""/>
      </a:majorFont>
      <a:minorFont>
        <a:latin typeface="Golo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УУНиТ" id="{F59AB681-219E-438F-B162-AF29A19CA93F}" vid="{5846A7CC-7BEB-4586-A9FC-8BB7BA43975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template-presentation</Template>
  <TotalTime>102</TotalTime>
  <Words>112</Words>
  <Application>Microsoft Office PowerPoint</Application>
  <PresentationFormat>Широкоэкранный</PresentationFormat>
  <Paragraphs>19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Golos Text</vt:lpstr>
      <vt:lpstr>Golos Text DemiBold</vt:lpstr>
      <vt:lpstr>Segoe UI</vt:lpstr>
      <vt:lpstr>Segoe UI Black</vt:lpstr>
      <vt:lpstr>Times New Roman</vt:lpstr>
      <vt:lpstr>УУНиТ 1</vt:lpstr>
      <vt:lpstr>Наследие индустрий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</dc:title>
  <dc:creator>Галимова Диана Ириковна</dc:creator>
  <cp:lastModifiedBy>Алина Салимова</cp:lastModifiedBy>
  <cp:revision>24</cp:revision>
  <dcterms:created xsi:type="dcterms:W3CDTF">2025-03-17T08:38:40Z</dcterms:created>
  <dcterms:modified xsi:type="dcterms:W3CDTF">2026-05-28T06:06:40Z</dcterms:modified>
</cp:coreProperties>
</file>